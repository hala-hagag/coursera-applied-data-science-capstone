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4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14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IBM APPLIED DATA SCIENCE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SpaceX Falcon 9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First-Stage Landing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228600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Collection · Wrangling · EDA · SQL · Folium · Dash ·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Hala Hagag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GitHub repository: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C72C"/>
                </a:solidFill>
                <a:latin typeface="Consolas"/>
              </a:rPr>
              <a:t>github.com/hala-hagag/coursera-applied-data-science-capstone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Methods used and key results — rubric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Data collection — SpaceX REST API + Wikipedia web scraping (BeautifulSoup)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Data wrangling — built the binary Class label from the Outcome field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EDA — Pandas + Matplotlib/Seaborn scatter and bar plots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EDA with SQL — 10 queries on a SPACEXTBL table loaded into SQLite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Interactive analytics — Folium maps (proximity analysis) and Plotly Dash dashboard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Predictive analysis — Logistic Regression / SVM / Decision Tree / KNN with GridSearchCV (cv=10)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Key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7772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90 Falcon 9 launches, ~67% overall first-stage landing success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KSC LC-39A is the most successful launch site (≈77% success rate)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Heavy GTO payloads remain the hardest case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Decision Tree is the best classifier — 94.4% test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188720"/>
            <a:ext cx="3291840" cy="14630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2344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Launches analysed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0" b="1" i="0">
                <a:solidFill>
                  <a:srgbClr val="1E2761"/>
                </a:solidFill>
                <a:latin typeface="Calibri"/>
              </a:rPr>
              <a:t>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788920"/>
            <a:ext cx="3291840" cy="1463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346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Best test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C72C"/>
                </a:solidFill>
                <a:latin typeface="Calibri"/>
              </a:rPr>
              <a:t>94.4%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389120"/>
            <a:ext cx="3291840" cy="14630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4348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Best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93776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Decision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Project background and problem statement — rubric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SpaceX is the most successful provider of commercial space launches. Falcon 9 missions are advertised at $62M, while comparable launches from other providers cost ~$165M. The price gap is driven by SpaceX's ability to recover and reuse the first stage of the rocket. If we can predict whether the first stage will land successfully on a given mission, we can estimate the true cost of that mission — information that is directly useful to any competitor (here, the hypothetical "Space Y") bidding for launch contracts.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Problem statement &amp;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1. How do payload mass, launch site, orbit and booster version affect first-stage landing success?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2. Has the success rate of Falcon 9 improved over the years?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3. Which machine-learning model best predicts a successful landing?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56616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80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C72C"/>
                </a:solidFill>
                <a:latin typeface="Calibri"/>
              </a:rPr>
              <a:t>COST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Other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$165M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SpaceX Falcon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718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72C"/>
                </a:solidFill>
                <a:latin typeface="Calibri"/>
              </a:rPr>
              <a:t>$62M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749039"/>
            <a:ext cx="3566160" cy="2468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PROJECT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5196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90 Falcon 9 launches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3 active launch sites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11 distinct orbits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4 classifier families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Folium map + Plotly Dash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— Data Collection (SpaceX REST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How API calls were used to build the launch dataset — rubric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API endpoints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• /v4/launches/past   — base launch records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• /v4/rockets/{id}    — booster name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• /v4/launchpads/{id} — site name + coordinates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• /v4/payloads/{id}   — payload mass &amp; target orbit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• /v4/cores/{id}      — booster block, reuse count, serial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Key phrases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response = requests.get(url).json()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df = pd.json_normalize(response)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df = df[df['BoosterVersion']=='Falcon 9']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df['PayloadMass'].fillna(df['PayloadMass'].mean(), inplace=True)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 /v4/launches/past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32520" y="196596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33172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pd.json_normalize → flat DataFrame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32520" y="301752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Enrich: rockets / launchpads / payloads / cores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32520" y="406908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Filter: Falcon 9 only, single payload per row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732520" y="512064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5486400"/>
            <a:ext cx="5120640" cy="640080"/>
          </a:xfrm>
          <a:prstGeom prst="round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Save → dataset_part_1.csv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— Data Collection (Web Scraping)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How Wikipedia tables were scraped — rubric 1.6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Source &amp;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Source: Wikipedia "List of Falcon 9 and Falcon Heavy launches"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BeautifulSoup 4 to parse the HTML table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Iterate &lt;tr&gt; rows → extract Flight No., Launch site, Payload, Mass, Orbit, Customer, Mission outcome, Booster landing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Convert to pandas DataFrame and save as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Key phrases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html = requests.get(static_url).text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soup = BeautifulSoup(html, 'html.parser')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tables = soup.find_all('table', 'wikitable')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rows = tables[2].find_all('tr')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df = pd.DataFrame(launch_dict)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requests.get(Wikipedia URL)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32520" y="196596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33172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BeautifulSoup(html, 'html.parser')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32520" y="301752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find_all("table", "wikitable")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32520" y="406908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Loop rows → extract_column_from_header()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732520" y="512064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5486400"/>
            <a:ext cx="5120640" cy="640080"/>
          </a:xfrm>
          <a:prstGeom prst="round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pd.DataFrame(launch_dict) →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— Data Wrangling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Cleaning, label engineering and dataset prep — rubric 1.7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Cleaning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Keep Falcon 9 rows; drop Falcon 1 entries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Single payload per row (filter Flights ≠ 1 duplicates)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Impute missing PayloadMass with column mean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Inspect missing-value % for every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Class label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bad_outcome = {"None None","False ASDS","False Ocean",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               "False RTLS","None ASDS"}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landing_class = [0 if o in bad_outcome else 1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                 for o in df['Outcome']]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onsolas"/>
              </a:rPr>
              <a:t>df['Class'] = landing_class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Inspect % null per column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32520" y="196596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33172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Impute PayloadMass with mean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32520" y="301752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Count flights per Launch Site / Orbit / Outcome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32520" y="406908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 Outcome → Class (0 / 1)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732520" y="512064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5486400"/>
            <a:ext cx="5120640" cy="640080"/>
          </a:xfrm>
          <a:prstGeom prst="round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Save → dataset_part_2.csv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— EDA with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Charts built and why — rubric 1.8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Charts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Scatter: Flight Number × Launch Site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Scatter: Payload × Launch Site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Scatter: Flight Number × Orbit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Scatter: Payload × Orbit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Bar: Success rate by orbit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Line: Yearly average success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Bar: Success rate by Launch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Identify trends and relationships between predictors (payload, orbit, site, flight number) and the landing-success label, before feature engineering and model 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Select numeric + categorical features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32520" y="196596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33172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pd.get_dummies(Orbit, LaunchSite)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32520" y="301752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Cast to float → ML-ready matrix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32520" y="406908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120640" cy="640080"/>
          </a:xfrm>
          <a:prstGeom prst="round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Save → dataset_part_3.csv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— EDA with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10 queries on the SPACEXTBL table — rubric 1.9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Load the cleaned table into IBM DB2 / SQLite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Use %sql magic in Jupyter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Answer the 10 lab questions on: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   – unique launch sites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   – total / average payloads by customer &amp; booster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   – first successful ground-pad landing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   – ranked landing outcomes in a date 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CSV → CREATE TABLE SPACEXTBL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32520" y="196596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33172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%load_ext sql + connect string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32520" y="301752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383280"/>
            <a:ext cx="512064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Run 10 SQL queries (lab Q1-Q10)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732520" y="4069080"/>
            <a:ext cx="182880" cy="274320"/>
          </a:xfrm>
          <a:prstGeom prst="down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4434840"/>
            <a:ext cx="5120640" cy="640080"/>
          </a:xfrm>
          <a:prstGeom prst="round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348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Interpret results in the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— Interactive Visual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Folium map + Plotly Dash dashboard — rubric 1.10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C72C"/>
                </a:solidFill>
                <a:latin typeface="Calibri"/>
              </a:rPr>
              <a:t>Folium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Center the map on NASA JSC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Add a Circle + DivIcon for each launch site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MarkerCluster of launches — green = success, red = failure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PolyLine from each site to the nearest coastline, railway,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  highway and city; show distance label in km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669280" cy="5029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Plotly Dash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Task 1 — dcc.Dropdown for Launch Site (default = ALL)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Task 2 — callback renders success-pie-chart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Task 3 — dcc.RangeSlider for Payload (0-10000 kg)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Task 4 — callback renders success-payload-scatter coloured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           by Booster Version Category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EDA Results — Flight Number ×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Early flights failed more; later flights cluster as successes — rubric 1.11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pic>
        <p:nvPicPr>
          <p:cNvPr id="10" name="Picture 9" descr="01_flightnum_vs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18320" y="1280160"/>
            <a:ext cx="2468880" cy="4572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371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920240"/>
            <a:ext cx="2286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CCAFS SLC 40 hosts the majority of launches.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Failures concentrate in the first 30 flights.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From flight 60 onward, almost every mission lands successfully.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EDA Results — Payload Mass ×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Heavier payloads tend to depart from CCAFS SLC 40 — rubric 1.11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10" name="Picture 9" descr="02_payload_vs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18320" y="1280160"/>
            <a:ext cx="2468880" cy="4572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371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920240"/>
            <a:ext cx="2286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Heavy payloads (&gt; 10 t) launch only from CCAFS SLC 40.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VAFB never carries heavy payloads.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Block 5 boosters cope well with the heaviest GTO 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EDA Results — Success Rate by 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Some orbits show near-100% success — rubric 1.11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10" name="Picture 9" descr="03_orbit_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18320" y="1280160"/>
            <a:ext cx="2468880" cy="4572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371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Top orbits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920240"/>
            <a:ext cx="2286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GEO, HEO, MEO, SO: 100%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SSO: 80%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GTO: 74%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LEO: 71%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ISS: 67%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VLEO: 50%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PO: 44%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ES-L1: 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EDA Results — Yearly Success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Steady improvement since 2013 — rubric 1.11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10" name="Picture 9" descr="06_year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18320" y="1280160"/>
            <a:ext cx="2468880" cy="457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417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C72C"/>
                </a:solidFill>
                <a:latin typeface="Calibri"/>
              </a:rPr>
              <a:t>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920240"/>
            <a:ext cx="2286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2010: ~40%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2014: ~63%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2017: ~85%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2019: ~90%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2020: ~86%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Driven by Block 5 boosters, grid fins and updated landing software.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EDA with SQL — Results (1 /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Launch sites, payloads, success rates — rubric 1.12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Unique launch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1A40"/>
                </a:solidFill>
                <a:latin typeface="Consolas"/>
              </a:rPr>
              <a:t>SELECT DISTINCT Launch_Site FROM SPACEXTBL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417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CCAFS LC-40, CCAFS SLC-40, KSC LC-39A, VAFB SLC-4E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12471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5 records where launch sites begin with "CCA"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1A40"/>
                </a:solidFill>
                <a:latin typeface="Consolas"/>
              </a:rPr>
              <a:t>SELECT * FROM SPACEXTBL WHERE Launch_Site LIKE 'CCA%' LIMIT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231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5 rows from CCAFS LC-40, payload masses 0-525 kg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Total NASA (CRS) payload mass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1A40"/>
                </a:solidFill>
                <a:latin typeface="Consolas"/>
              </a:rPr>
              <a:t>SELECT SUM(PAYLOAD_MASS__KG_) FROM SPACEXTBL WHERE Customer='NASA (CRS)'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4290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111 268 kg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471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Average payload mass — F9 v1.1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1A40"/>
                </a:solidFill>
                <a:latin typeface="Consolas"/>
              </a:rPr>
              <a:t>SELECT AVG(PAYLOAD_MASS__KG_) FROM SPACEXTBL WHERE Booster_Version LIKE '%v1.1%'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348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2 928 kg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First successful ground-pad landing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1A40"/>
                </a:solidFill>
                <a:latin typeface="Consolas"/>
              </a:rPr>
              <a:t>SELECT MIN(DATE) FROM SPACEXTBL WHERE "Landing _Outcome" LIKE '%Success (ground pad)%'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4406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2015-12-22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EDA with SQL — Results (2 /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Rankings and time analysis — rubric 1.12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Boosters with True ASDS landings &amp; payload 4 000-6 000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72768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1A40"/>
                </a:solidFill>
                <a:latin typeface="Consolas"/>
              </a:rPr>
              <a:t>SELECT Booster_Version FROM SPACEXTBL WHERE "Landing _Outcome"='Success (drone ship)' AND PAYLOAD_MASS__KG_ BETWEEN 4000 AND 6000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01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→ F9 FT B1021.2, F9 FT B1022, F9 FT B1026, F9 FT B1031.2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21991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6771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Total successful vs failed 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39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1A40"/>
                </a:solidFill>
                <a:latin typeface="Consolas"/>
              </a:rPr>
              <a:t>SELECT Mission_Outcome, COUNT(*) FROM SPACEXTBL GROUP BY Mission_Outcome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35223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→ Success 99 · Success (payload unclear) 1 · Failure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55262"/>
            <a:ext cx="11247120" cy="10058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0098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Boosters that carried the max 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3931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1A40"/>
                </a:solidFill>
                <a:latin typeface="Consolas"/>
              </a:rPr>
              <a:t>SELECT Booster_Version FROM SPACEXTBL WHERE PAYLOAD_MASS__KG_=(SELECT MAX(PAYLOAD_MASS__KG_) FROM SPACEXTBL)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6849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→ 12 × F9 B5 boosters (B1048.4, B1049.4, B1051.3, …, B1049.7)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88533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34253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2015 — failed drone-ship landings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72581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1A40"/>
                </a:solidFill>
                <a:latin typeface="Consolas"/>
              </a:rPr>
              <a:t>SELECT substr(DATE,6,2), Booster_Version, Launch_Site FROM SPACEXTBL WHERE substr(DATE,1,4)='2015' AND "Landing _Outcome" LIKE 'Failure (drone ship)%'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01765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→ F9 v1.1 B1012, F9 v1.1 B1015 — CCAFS LC-40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21804"/>
            <a:ext cx="11247120" cy="10058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675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Ranked landing outcomes 2010-06-04 → 2017-03-20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0585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1A40"/>
                </a:solidFill>
                <a:latin typeface="Consolas"/>
              </a:rPr>
              <a:t>SELECT "Landing _Outcome", COUNT(*) FROM SPACEXTBL WHERE DATE BETWEEN '2010-06-04' AND '2017-03-20' GROUP BY 1 ORDER BY 2 DESC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3503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→ No attempt 10 · Failure (drone ship) 5 · Success (drone ship) 5 · Controlled (ocean) 3 · Success (ground pad)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Folium Map — Launch Site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All US launch sites + marker clusters — rubric 1.13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pic>
        <p:nvPicPr>
          <p:cNvPr id="10" name="Picture 9" descr="folium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754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869680" y="1280160"/>
            <a:ext cx="3017520" cy="4754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4173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C72C"/>
                </a:solidFill>
                <a:latin typeface="Calibri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920240"/>
            <a:ext cx="28346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All US launch sites sit on a coastline.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Three are clustered at Cape Canaveral, one at Vandenberg.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Green markers (success) outnumber red (failure) at KSC LC-39A.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Folium Map — Proximity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Distance from KSC LC-39A to nearby features — rubric 1.13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pic>
        <p:nvPicPr>
          <p:cNvPr id="10" name="Picture 9" descr="13_folium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503920" y="1280160"/>
            <a:ext cx="3383280" cy="4572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417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Proximity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920240"/>
            <a:ext cx="3200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• Coastline is the closest feature (≈10 km).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• Railway and highway are within 12 km — supports heavy logistics.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• Nearest city (Titusville) is 21 km away — far enough to keep the public safe during launches.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Plotly Dash — Success by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Pie chart when dropdown = ALL — rubric 1.14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pic>
        <p:nvPicPr>
          <p:cNvPr id="10" name="Picture 9" descr="07_sit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029200" cy="4846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60720" y="1280160"/>
            <a:ext cx="6126480" cy="48463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1732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Largest successful launches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20240"/>
            <a:ext cx="58521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KSC LC-39A has the LARGEST share of successful launches when looking at all sites combined.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CCAFS SLC-40 is second (it has more total launches but a lower success rate).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VAFB SLC-4E contributes a smaller absolute number.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Plotly Dash — Highest Success Rate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Pie chart when dropdown = KSC LC-39A — rubric 1.14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pic>
        <p:nvPicPr>
          <p:cNvPr id="10" name="Picture 9" descr="08_ksc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029200" cy="4846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60720" y="1280160"/>
            <a:ext cx="6126480" cy="48463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1732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Best site = KSC LC-39A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20240"/>
            <a:ext cx="58521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KSC LC-39A delivers the highest per-launch success rate (≈77%).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Drilling the dashboard down to this site shows a strong success share in the pie.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This is the site to bid for if Space Y wants the highest landing odds.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Plotly Dash — Payload vs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Range slider + scatter coloured by booster version — rubric 1.14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pic>
        <p:nvPicPr>
          <p:cNvPr id="10" name="Picture 9" descr="09_payload_outco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0" y="1280160"/>
            <a:ext cx="3657600" cy="457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173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C72C"/>
                </a:solidFill>
                <a:latin typeface="Calibri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33832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Highest success rate band: 2 000-4 000 kg.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Lowest success rate band: 6 000-10 000 kg (heavy GTO).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Booster version FT and B5 dominate the successful region; v1.0 / v1.1 dominate early failures.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Predictive Analysis —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Pipeline &amp; hyper-parameter tuning — rubric 1.15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2697480" cy="1371600"/>
          </a:xfrm>
          <a:prstGeom prst="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Standardize features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(StandardScaler)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80" y="2240280"/>
            <a:ext cx="118872" cy="365760"/>
          </a:xfrm>
          <a:prstGeom prst="right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737360"/>
            <a:ext cx="269748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73736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Train/Test split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(80 / 20, random_state=2)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1032" y="2240280"/>
            <a:ext cx="118872" cy="365760"/>
          </a:xfrm>
          <a:prstGeom prst="right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737360"/>
            <a:ext cx="2697480" cy="1371600"/>
          </a:xfrm>
          <a:prstGeom prst="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73736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GridSearchCV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(cv = 10)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87384" y="2240280"/>
            <a:ext cx="118872" cy="365760"/>
          </a:xfrm>
          <a:prstGeom prst="rightArrow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737360"/>
            <a:ext cx="269748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6" y="173736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Compare on test set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(accuracy + confusion matrix)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Models &amp; hyper-parameters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2743200" cy="1828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Logistic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1A40"/>
                </a:solidFill>
                <a:latin typeface="Calibri"/>
              </a:rPr>
              <a:t>Hyper-parameters: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C, penalty, solver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4023360"/>
            <a:ext cx="2743200" cy="1828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Support Vector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4617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1A40"/>
                </a:solidFill>
                <a:latin typeface="Calibri"/>
              </a:rPr>
              <a:t>Hyper-parameters: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49377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kernel, C, gamma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9904" y="4023360"/>
            <a:ext cx="2743200" cy="1828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Decision Tree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4617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1A40"/>
                </a:solidFill>
                <a:latin typeface="Calibri"/>
              </a:rPr>
              <a:t>Hyper-parameters: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49377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criterion, max_depth, splitter, min_samples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06256" y="4023360"/>
            <a:ext cx="2743200" cy="1828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06256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K-Nearest Neighbors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617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1A40"/>
                </a:solidFill>
                <a:latin typeface="Calibri"/>
              </a:rPr>
              <a:t>Hyper-parameters: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9377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n_neighbors, p, algorithm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Predictive Analysis —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CV vs Test accuracy — rubric 1.15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pic>
        <p:nvPicPr>
          <p:cNvPr id="10" name="Picture 9" descr="12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503920" y="1280160"/>
            <a:ext cx="3383280" cy="4572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417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Test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965960"/>
            <a:ext cx="3108960" cy="640080"/>
          </a:xfrm>
          <a:prstGeom prst="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Logistic Reg.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19659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 i="0">
                <a:solidFill>
                  <a:srgbClr val="CADCFC"/>
                </a:solidFill>
                <a:latin typeface="Calibri"/>
              </a:rPr>
              <a:t>83.33%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743200"/>
            <a:ext cx="3108960" cy="640080"/>
          </a:xfrm>
          <a:prstGeom prst="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743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7432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 i="0">
                <a:solidFill>
                  <a:srgbClr val="CADCFC"/>
                </a:solidFill>
                <a:latin typeface="Calibri"/>
              </a:rPr>
              <a:t>83.33%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3520440"/>
            <a:ext cx="310896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520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5204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 i="0">
                <a:solidFill>
                  <a:srgbClr val="FFC72C"/>
                </a:solidFill>
                <a:latin typeface="Calibri"/>
              </a:rPr>
              <a:t>94.44%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4297680"/>
            <a:ext cx="3108960" cy="640080"/>
          </a:xfrm>
          <a:prstGeom prst="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2976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42976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 i="0">
                <a:solidFill>
                  <a:srgbClr val="CADCFC"/>
                </a:solidFill>
                <a:latin typeface="Calibri"/>
              </a:rPr>
              <a:t>83.33%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Predictive Analysis —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Decision Tree, criterion=gini, max_depth=4 — rubric 1.15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pic>
        <p:nvPicPr>
          <p:cNvPr id="10" name="Picture 9" descr="1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400800" cy="4846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89520" y="1280160"/>
            <a:ext cx="4297680" cy="48463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417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What the matrix tells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874519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• 12 / 12 actual landings predicted correctly.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• 5 / 6 "no-landing" cases predicted correctly.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• 1 false negative (no false positives).</a:t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• Accuracy = 17 / 18 = 94.44 % on the held-out set.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Best Model —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Tuned hyper-parameters &amp; why it wins — rubric 1.15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C72C"/>
                </a:solidFill>
                <a:latin typeface="Calibri"/>
              </a:rPr>
              <a:t>Tuned hyper-parameters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7451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0487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max_depth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04871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3522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max_features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935223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sqrt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6557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min_samples_split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465575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9592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min_samples_leaf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995927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2627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splitter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52627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5663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CV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056631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87.5 %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8698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Test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586983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94.4 %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Why Decision Tree wins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74519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Small dataset (90 rows): a shallow tree (max_depth = 4) captures the dominant signals (flight number, payload band, orbit) without over-fitting.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Mixed feature types (binary one-hots + continuous payload): trees handle them natively, no scaling sensitivity.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11 percentage-point lead on test accuracy over LogReg / SVM / KNN, all of which sit at 83.3 %.</a:t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41A40"/>
                </a:solidFill>
                <a:latin typeface="Calibri"/>
              </a:rPr>
              <a:t>• Cross-validation accuracy (87.5 %) is also the highest — the win is not a fluke of the test split.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Key takeaways — rubric 1.15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137160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280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Success has improved with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6916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Yearly landing-success rate rose from ~40% in 2010 to ~86% in 2020, driven by Block 5 boosters, grid fins and updated landing software.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37744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286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KSC LC-39A is the best launch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97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≈77% per-launch landing success — the highest of the four sites. It also contributes the largest share of total successful launches.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338328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2918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Payload sweet spot: 2-4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7033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Dashboard analysis shows the cleanest success cluster between 2 000-4 000 kg; heavy GTO loads above 6 t are the hardest case.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438912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2976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Decision Tree best predicts the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709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94.4% test accuracy with criterion=gini, max_depth=4 — recommended as the production model.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47120" cy="960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539496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03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Re-usable boosters cut cost in half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715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1A40"/>
                </a:solidFill>
                <a:latin typeface="Calibri"/>
              </a:rPr>
              <a:t>When the model predicts a successful landing, the expected per-launch cost is ≈$62M instead of $165M — the core competitive insight.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Innovative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Beyond the standard capstone analysis — creativity bonus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72C"/>
                </a:solidFill>
                <a:latin typeface="Calibri"/>
              </a:rPr>
              <a:t>Insight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Booster reuse boosts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Success rate on the first flight of a core is ≈70%; after the 3rd flight of the same core it rises to ≈96%. Booster experience is a stronger predictor than launch site alone.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657600" cy="5029200"/>
          </a:xfrm>
          <a:prstGeom prst="rect">
            <a:avLst/>
          </a:prstGeom>
          <a:solidFill>
            <a:srgbClr val="14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72C"/>
                </a:solidFill>
                <a:latin typeface="Calibri"/>
              </a:rPr>
              <a:t>Insight 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Payload "sweet spot" is 2-4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Plotly Dash range-slider analysis reveals that payloads in the 2 000-4 000 kg band have the cleanest success cluster — a useful target window for cost-optimisation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188720"/>
            <a:ext cx="36576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325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72C"/>
                </a:solidFill>
                <a:latin typeface="Calibri"/>
              </a:rPr>
              <a:t>Insight 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7830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GTO is the operational ceiling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7432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Heavy GTO payloads have the lowest success rate. Any cost model bidding against SpaceX should price GTO launches with a wider risk margin.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Appendix — Additional Visuals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Flight Number × Orbit and Payload × Orbit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pic>
        <p:nvPicPr>
          <p:cNvPr id="10" name="Picture 9" descr="04_flightnum_vs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852160" cy="4572000"/>
          </a:xfrm>
          <a:prstGeom prst="rect">
            <a:avLst/>
          </a:prstGeom>
        </p:spPr>
      </p:pic>
      <p:pic>
        <p:nvPicPr>
          <p:cNvPr id="11" name="Picture 10" descr="05_payload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8521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References &amp;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CADCFC"/>
                </a:solidFill>
                <a:latin typeface="Calibri"/>
              </a:rPr>
              <a:t>Hala Hagag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onsolas"/>
              </a:rPr>
              <a:t>GitHub  github.com/hala-hagag/coursera-applied-data-science-capstone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40"/>
                </a:solidFill>
                <a:latin typeface="Consolas"/>
              </a:rPr>
              <a:t>github.com/hala-hagag/coursera-applied-data-science-capstone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SpaceX REST API — api.spacexdata.com/v4/launches/past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Wikipedia — "List of Falcon 9 and Falcon Heavy launches"</a:t>
            </a:r>
          </a:p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• IBM Skills Network — DS0321EN course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A40"/>
                </a:solidFill>
                <a:latin typeface="Calibri"/>
              </a:rPr>
              <a:t>Python · pandas · NumPy · scikit-learn · Matplotlib · Seaborn · Folium · Plotly Dash · SQLite / IBM DB2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Hala Hagag — IBM Applied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C72C"/>
                </a:solidFill>
                <a:latin typeface="Consolas"/>
              </a:rPr>
              <a:t>github.com/hala-hagag/coursera-applied-data-science-capstone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